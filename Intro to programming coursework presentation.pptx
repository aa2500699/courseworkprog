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ED34CC-C18D-4C16-9410-DE649CFB36D3}">
          <p14:sldIdLst>
            <p14:sldId id="256"/>
            <p14:sldId id="257"/>
            <p14:sldId id="258"/>
            <p14:sldId id="259"/>
            <p14:sldId id="260"/>
            <p14:sldId id="261"/>
            <p14:sldId id="26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FD42FD-797D-49F7-9796-4055DF52255B}" type="datetimeFigureOut">
              <a:rPr lang="en-US" smtClean="0"/>
              <a:t>12/14/2025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AA36A13-CDC3-4627-A2B3-E36A19F539A4}"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27727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FD42FD-797D-49F7-9796-4055DF52255B}"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36A13-CDC3-4627-A2B3-E36A19F539A4}"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2249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FD42FD-797D-49F7-9796-4055DF52255B}"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36A13-CDC3-4627-A2B3-E36A19F539A4}"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4455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FD42FD-797D-49F7-9796-4055DF52255B}"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36A13-CDC3-4627-A2B3-E36A19F539A4}"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3370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FD42FD-797D-49F7-9796-4055DF52255B}"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A36A13-CDC3-4627-A2B3-E36A19F539A4}"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73159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FD42FD-797D-49F7-9796-4055DF52255B}"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A36A13-CDC3-4627-A2B3-E36A19F539A4}"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13746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FD42FD-797D-49F7-9796-4055DF52255B}"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A36A13-CDC3-4627-A2B3-E36A19F539A4}" type="slidenum">
              <a:rPr lang="en-US" smtClean="0"/>
              <a:t>‹#›</a:t>
            </a:fld>
            <a:endParaRPr lang="en-US"/>
          </a:p>
        </p:txBody>
      </p:sp>
    </p:spTree>
    <p:extLst>
      <p:ext uri="{BB962C8B-B14F-4D97-AF65-F5344CB8AC3E}">
        <p14:creationId xmlns:p14="http://schemas.microsoft.com/office/powerpoint/2010/main" val="2353115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FD42FD-797D-49F7-9796-4055DF52255B}"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36A13-CDC3-4627-A2B3-E36A19F539A4}"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2835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5FD42FD-797D-49F7-9796-4055DF52255B}" type="datetimeFigureOut">
              <a:rPr lang="en-US" smtClean="0"/>
              <a:t>12/14/2025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AA36A13-CDC3-4627-A2B3-E36A19F539A4}"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64797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FD42FD-797D-49F7-9796-4055DF52255B}"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36A13-CDC3-4627-A2B3-E36A19F539A4}"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4732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FD42FD-797D-49F7-9796-4055DF52255B}"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36A13-CDC3-4627-A2B3-E36A19F539A4}"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9184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5FD42FD-797D-49F7-9796-4055DF52255B}" type="datetimeFigureOut">
              <a:rPr lang="en-US" smtClean="0"/>
              <a:t>12/14/2025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AA36A13-CDC3-4627-A2B3-E36A19F539A4}"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573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3C0DD-7950-3159-CA1B-9596B814DF6B}"/>
              </a:ext>
            </a:extLst>
          </p:cNvPr>
          <p:cNvSpPr>
            <a:spLocks noGrp="1"/>
          </p:cNvSpPr>
          <p:nvPr>
            <p:ph type="ctrTitle"/>
          </p:nvPr>
        </p:nvSpPr>
        <p:spPr/>
        <p:txBody>
          <a:bodyPr>
            <a:normAutofit fontScale="90000"/>
          </a:bodyPr>
          <a:lstStyle/>
          <a:p>
            <a:r>
              <a:rPr lang="en-US" dirty="0"/>
              <a:t>Intro to programming coursework</a:t>
            </a:r>
          </a:p>
        </p:txBody>
      </p:sp>
      <p:sp>
        <p:nvSpPr>
          <p:cNvPr id="3" name="Subtitle 2">
            <a:extLst>
              <a:ext uri="{FF2B5EF4-FFF2-40B4-BE49-F238E27FC236}">
                <a16:creationId xmlns:a16="http://schemas.microsoft.com/office/drawing/2014/main" id="{147A74D4-5E73-48E5-C788-517FF4C858AC}"/>
              </a:ext>
            </a:extLst>
          </p:cNvPr>
          <p:cNvSpPr>
            <a:spLocks noGrp="1"/>
          </p:cNvSpPr>
          <p:nvPr>
            <p:ph type="subTitle" idx="1"/>
          </p:nvPr>
        </p:nvSpPr>
        <p:spPr>
          <a:xfrm>
            <a:off x="2417780" y="3531204"/>
            <a:ext cx="8637072" cy="1070293"/>
          </a:xfrm>
        </p:spPr>
        <p:txBody>
          <a:bodyPr>
            <a:normAutofit/>
          </a:bodyPr>
          <a:lstStyle/>
          <a:p>
            <a:r>
              <a:rPr lang="en-US" dirty="0"/>
              <a:t>By: ahmed mostafa  </a:t>
            </a:r>
          </a:p>
          <a:p>
            <a:r>
              <a:rPr lang="en-US" dirty="0"/>
              <a:t>Prof. Mostafa Shokry   Eng. Shereen   Eng. Ayman</a:t>
            </a:r>
          </a:p>
          <a:p>
            <a:endParaRPr lang="en-US" dirty="0"/>
          </a:p>
        </p:txBody>
      </p:sp>
    </p:spTree>
    <p:extLst>
      <p:ext uri="{BB962C8B-B14F-4D97-AF65-F5344CB8AC3E}">
        <p14:creationId xmlns:p14="http://schemas.microsoft.com/office/powerpoint/2010/main" val="65415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4EC2B-4372-EB30-AAE5-610FD01CADA5}"/>
              </a:ext>
            </a:extLst>
          </p:cNvPr>
          <p:cNvSpPr>
            <a:spLocks noGrp="1"/>
          </p:cNvSpPr>
          <p:nvPr>
            <p:ph type="title"/>
          </p:nvPr>
        </p:nvSpPr>
        <p:spPr/>
        <p:txBody>
          <a:bodyPr/>
          <a:lstStyle/>
          <a:p>
            <a:r>
              <a:rPr lang="en-US" dirty="0"/>
              <a:t>What is steganography</a:t>
            </a:r>
          </a:p>
        </p:txBody>
      </p:sp>
      <p:sp>
        <p:nvSpPr>
          <p:cNvPr id="3" name="Content Placeholder 2">
            <a:extLst>
              <a:ext uri="{FF2B5EF4-FFF2-40B4-BE49-F238E27FC236}">
                <a16:creationId xmlns:a16="http://schemas.microsoft.com/office/drawing/2014/main" id="{8FAE1F2F-605E-61D9-5257-CB676E66FBF7}"/>
              </a:ext>
            </a:extLst>
          </p:cNvPr>
          <p:cNvSpPr>
            <a:spLocks noGrp="1"/>
          </p:cNvSpPr>
          <p:nvPr>
            <p:ph idx="1"/>
          </p:nvPr>
        </p:nvSpPr>
        <p:spPr>
          <a:xfrm>
            <a:off x="1451579" y="1986235"/>
            <a:ext cx="9603275" cy="3657481"/>
          </a:xfrm>
        </p:spPr>
        <p:txBody>
          <a:bodyPr>
            <a:normAutofit/>
          </a:bodyPr>
          <a:lstStyle/>
          <a:p>
            <a:r>
              <a:rPr lang="en-US" dirty="0"/>
              <a:t>Steganography basically means hiding messages inside something else, like another file, so no one knows </a:t>
            </a:r>
            <a:r>
              <a:rPr lang="en-US" dirty="0" err="1"/>
              <a:t>theres</a:t>
            </a:r>
            <a:r>
              <a:rPr lang="en-US" dirty="0"/>
              <a:t> a secret there. Its different from cryptography,  because that one just scrambles the message to keep it safe, but steganography goes further by making the whole thing disappear from sight for anyone snooping around.</a:t>
            </a:r>
          </a:p>
          <a:p>
            <a:r>
              <a:rPr lang="en-US" dirty="0"/>
              <a:t>A good way to picture it is like using invisible ink for a note tucked into a regular letter. The person flipping through it </a:t>
            </a:r>
            <a:r>
              <a:rPr lang="en-US" dirty="0" err="1"/>
              <a:t>wouldnt</a:t>
            </a:r>
            <a:r>
              <a:rPr lang="en-US" dirty="0"/>
              <a:t> suspect a thing.</a:t>
            </a:r>
          </a:p>
          <a:p>
            <a:r>
              <a:rPr lang="en-US" dirty="0"/>
              <a:t>You can do this with all sorts of stuff, images or audio files, videos too, and even plain text documents sometimes. It seems pretty versatile.</a:t>
            </a:r>
          </a:p>
        </p:txBody>
      </p:sp>
    </p:spTree>
    <p:extLst>
      <p:ext uri="{BB962C8B-B14F-4D97-AF65-F5344CB8AC3E}">
        <p14:creationId xmlns:p14="http://schemas.microsoft.com/office/powerpoint/2010/main" val="3430989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EFC7F-245D-6B59-B56E-CCFA3F5F1AA6}"/>
              </a:ext>
            </a:extLst>
          </p:cNvPr>
          <p:cNvSpPr>
            <a:spLocks noGrp="1"/>
          </p:cNvSpPr>
          <p:nvPr>
            <p:ph type="title"/>
          </p:nvPr>
        </p:nvSpPr>
        <p:spPr/>
        <p:txBody>
          <a:bodyPr/>
          <a:lstStyle/>
          <a:p>
            <a:r>
              <a:rPr lang="en-US" dirty="0"/>
              <a:t>Application overview</a:t>
            </a:r>
          </a:p>
        </p:txBody>
      </p:sp>
      <p:sp>
        <p:nvSpPr>
          <p:cNvPr id="3" name="Content Placeholder 2">
            <a:extLst>
              <a:ext uri="{FF2B5EF4-FFF2-40B4-BE49-F238E27FC236}">
                <a16:creationId xmlns:a16="http://schemas.microsoft.com/office/drawing/2014/main" id="{799B37B3-1D36-DE6E-C781-CF5F0205B912}"/>
              </a:ext>
            </a:extLst>
          </p:cNvPr>
          <p:cNvSpPr>
            <a:spLocks noGrp="1"/>
          </p:cNvSpPr>
          <p:nvPr>
            <p:ph idx="1"/>
          </p:nvPr>
        </p:nvSpPr>
        <p:spPr/>
        <p:txBody>
          <a:bodyPr/>
          <a:lstStyle/>
          <a:p>
            <a:r>
              <a:rPr lang="en-US" dirty="0"/>
              <a:t>This application is designed to hide messages either typed directly by the user or read from a text file, and to extract messages that have been previously hidden in images. It supports only BMP images because these files are uncompressed and allow reliable manipulation of the least significant bits of pixel data. The program focuses on robustness, ensuring that any error or unexpected input does not crash the application.</a:t>
            </a:r>
          </a:p>
        </p:txBody>
      </p:sp>
    </p:spTree>
    <p:extLst>
      <p:ext uri="{BB962C8B-B14F-4D97-AF65-F5344CB8AC3E}">
        <p14:creationId xmlns:p14="http://schemas.microsoft.com/office/powerpoint/2010/main" val="3329823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5259-2B36-5236-91EC-C061BC04E6A1}"/>
              </a:ext>
            </a:extLst>
          </p:cNvPr>
          <p:cNvSpPr>
            <a:spLocks noGrp="1"/>
          </p:cNvSpPr>
          <p:nvPr>
            <p:ph type="title"/>
          </p:nvPr>
        </p:nvSpPr>
        <p:spPr/>
        <p:txBody>
          <a:bodyPr/>
          <a:lstStyle/>
          <a:p>
            <a:r>
              <a:rPr lang="en-US" dirty="0"/>
              <a:t>How it works</a:t>
            </a:r>
          </a:p>
        </p:txBody>
      </p:sp>
      <p:sp>
        <p:nvSpPr>
          <p:cNvPr id="5" name="Text Placeholder 4">
            <a:extLst>
              <a:ext uri="{FF2B5EF4-FFF2-40B4-BE49-F238E27FC236}">
                <a16:creationId xmlns:a16="http://schemas.microsoft.com/office/drawing/2014/main" id="{6F424706-A75B-8882-2A39-FDE7A1BB2D42}"/>
              </a:ext>
            </a:extLst>
          </p:cNvPr>
          <p:cNvSpPr>
            <a:spLocks noGrp="1"/>
          </p:cNvSpPr>
          <p:nvPr>
            <p:ph type="body" idx="1"/>
          </p:nvPr>
        </p:nvSpPr>
        <p:spPr/>
        <p:txBody>
          <a:bodyPr/>
          <a:lstStyle/>
          <a:p>
            <a:r>
              <a:rPr lang="en-US" dirty="0"/>
              <a:t>Hiding messages:</a:t>
            </a:r>
          </a:p>
          <a:p>
            <a:endParaRPr lang="en-US" dirty="0"/>
          </a:p>
        </p:txBody>
      </p:sp>
      <p:sp>
        <p:nvSpPr>
          <p:cNvPr id="3" name="Content Placeholder 2">
            <a:extLst>
              <a:ext uri="{FF2B5EF4-FFF2-40B4-BE49-F238E27FC236}">
                <a16:creationId xmlns:a16="http://schemas.microsoft.com/office/drawing/2014/main" id="{4A9914C4-3504-FFE1-DE1C-3884D950DCC6}"/>
              </a:ext>
            </a:extLst>
          </p:cNvPr>
          <p:cNvSpPr>
            <a:spLocks noGrp="1"/>
          </p:cNvSpPr>
          <p:nvPr>
            <p:ph sz="half" idx="2"/>
          </p:nvPr>
        </p:nvSpPr>
        <p:spPr/>
        <p:txBody>
          <a:bodyPr>
            <a:normAutofit fontScale="77500" lnSpcReduction="20000"/>
          </a:bodyPr>
          <a:lstStyle/>
          <a:p>
            <a:pPr marL="0" indent="0">
              <a:buNone/>
            </a:pPr>
            <a:r>
              <a:rPr lang="en-US" dirty="0"/>
              <a:t>The application first converts the text message into binary, representing each character as eight bits. An end marker, “###”, is appended to signal the end of the message during extraction. The program opens the BMP image in binary mode, skipping the 54-byte header to preserve metadata. Each least significant bit of the image pixels is replaced with one bit of the message. Once all bits are embedded, the modified image is saved under a new filename, effectively hiding the message without visibly altering the image.</a:t>
            </a:r>
          </a:p>
          <a:p>
            <a:endParaRPr lang="en-US" dirty="0"/>
          </a:p>
        </p:txBody>
      </p:sp>
      <p:sp>
        <p:nvSpPr>
          <p:cNvPr id="6" name="Text Placeholder 5">
            <a:extLst>
              <a:ext uri="{FF2B5EF4-FFF2-40B4-BE49-F238E27FC236}">
                <a16:creationId xmlns:a16="http://schemas.microsoft.com/office/drawing/2014/main" id="{EEBF1B41-36EB-394D-B6E7-9FF12B19F122}"/>
              </a:ext>
            </a:extLst>
          </p:cNvPr>
          <p:cNvSpPr>
            <a:spLocks noGrp="1"/>
          </p:cNvSpPr>
          <p:nvPr>
            <p:ph type="body" sz="quarter" idx="3"/>
          </p:nvPr>
        </p:nvSpPr>
        <p:spPr/>
        <p:txBody>
          <a:bodyPr/>
          <a:lstStyle/>
          <a:p>
            <a:r>
              <a:rPr lang="en-US" dirty="0"/>
              <a:t>Extracting messages :</a:t>
            </a:r>
          </a:p>
          <a:p>
            <a:endParaRPr lang="en-US" dirty="0"/>
          </a:p>
        </p:txBody>
      </p:sp>
      <p:sp>
        <p:nvSpPr>
          <p:cNvPr id="4" name="Content Placeholder 3">
            <a:extLst>
              <a:ext uri="{FF2B5EF4-FFF2-40B4-BE49-F238E27FC236}">
                <a16:creationId xmlns:a16="http://schemas.microsoft.com/office/drawing/2014/main" id="{005C0D2C-A24D-E38A-1AE2-AA49E00119B0}"/>
              </a:ext>
            </a:extLst>
          </p:cNvPr>
          <p:cNvSpPr>
            <a:spLocks noGrp="1"/>
          </p:cNvSpPr>
          <p:nvPr>
            <p:ph sz="quarter" idx="4"/>
          </p:nvPr>
        </p:nvSpPr>
        <p:spPr/>
        <p:txBody>
          <a:bodyPr>
            <a:normAutofit fontScale="77500" lnSpcReduction="20000"/>
          </a:bodyPr>
          <a:lstStyle/>
          <a:p>
            <a:pPr marL="0" indent="0">
              <a:buNone/>
            </a:pPr>
            <a:r>
              <a:rPr lang="en-US" dirty="0"/>
              <a:t>The application first converts the text message into binary, representing each character as eight bits. An end marker, “###”, is appended to signal the end of the message during extraction. The program opens the BMP image in binary mode, skipping the 54-byte header to preserve metadata. Each least significant bit of the image pixels is replaced with one bit of the message. Once all bits are embedded, the modified image is saved under a new filename, effectively hiding the message without visibly altering the image.</a:t>
            </a:r>
          </a:p>
        </p:txBody>
      </p:sp>
    </p:spTree>
    <p:extLst>
      <p:ext uri="{BB962C8B-B14F-4D97-AF65-F5344CB8AC3E}">
        <p14:creationId xmlns:p14="http://schemas.microsoft.com/office/powerpoint/2010/main" val="115764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206B-C63F-EB0C-9206-1E9D5BCFF089}"/>
              </a:ext>
            </a:extLst>
          </p:cNvPr>
          <p:cNvSpPr>
            <a:spLocks noGrp="1"/>
          </p:cNvSpPr>
          <p:nvPr>
            <p:ph type="title"/>
          </p:nvPr>
        </p:nvSpPr>
        <p:spPr/>
        <p:txBody>
          <a:bodyPr/>
          <a:lstStyle/>
          <a:p>
            <a:r>
              <a:rPr lang="en-US" dirty="0"/>
              <a:t>Testing and edge cases</a:t>
            </a:r>
          </a:p>
        </p:txBody>
      </p:sp>
      <p:sp>
        <p:nvSpPr>
          <p:cNvPr id="3" name="Content Placeholder 2">
            <a:extLst>
              <a:ext uri="{FF2B5EF4-FFF2-40B4-BE49-F238E27FC236}">
                <a16:creationId xmlns:a16="http://schemas.microsoft.com/office/drawing/2014/main" id="{CC63036C-9829-9248-03DB-17086DC68F63}"/>
              </a:ext>
            </a:extLst>
          </p:cNvPr>
          <p:cNvSpPr>
            <a:spLocks noGrp="1"/>
          </p:cNvSpPr>
          <p:nvPr>
            <p:ph idx="1"/>
          </p:nvPr>
        </p:nvSpPr>
        <p:spPr/>
        <p:txBody>
          <a:bodyPr/>
          <a:lstStyle/>
          <a:p>
            <a:r>
              <a:rPr lang="en-US" dirty="0"/>
              <a:t>The program was tested with a wide variety of scenarios to ensure reliability. Messages of different lengths, including empty messages, very long messages, and messages containing Unicode characters, were tested. Image-related tests included using images that do not exist, images too small for the message, and images with unsupported formats. All these tests produced appropriate messages to the user, and in no case did the program crash or behave unpredictably.</a:t>
            </a:r>
          </a:p>
        </p:txBody>
      </p:sp>
    </p:spTree>
    <p:extLst>
      <p:ext uri="{BB962C8B-B14F-4D97-AF65-F5344CB8AC3E}">
        <p14:creationId xmlns:p14="http://schemas.microsoft.com/office/powerpoint/2010/main" val="1932596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EC61E-3324-BB9A-AC3D-A452C1F2F753}"/>
              </a:ext>
            </a:extLst>
          </p:cNvPr>
          <p:cNvSpPr>
            <a:spLocks noGrp="1"/>
          </p:cNvSpPr>
          <p:nvPr>
            <p:ph type="title"/>
          </p:nvPr>
        </p:nvSpPr>
        <p:spPr/>
        <p:txBody>
          <a:bodyPr/>
          <a:lstStyle/>
          <a:p>
            <a:r>
              <a:rPr lang="en-US" dirty="0"/>
              <a:t>Algorithm and Time Complexity</a:t>
            </a:r>
          </a:p>
        </p:txBody>
      </p:sp>
      <p:sp>
        <p:nvSpPr>
          <p:cNvPr id="3" name="Content Placeholder 2">
            <a:extLst>
              <a:ext uri="{FF2B5EF4-FFF2-40B4-BE49-F238E27FC236}">
                <a16:creationId xmlns:a16="http://schemas.microsoft.com/office/drawing/2014/main" id="{C7140AFE-A9B7-4102-5E57-E6B146A89909}"/>
              </a:ext>
            </a:extLst>
          </p:cNvPr>
          <p:cNvSpPr>
            <a:spLocks noGrp="1"/>
          </p:cNvSpPr>
          <p:nvPr>
            <p:ph idx="1"/>
          </p:nvPr>
        </p:nvSpPr>
        <p:spPr/>
        <p:txBody>
          <a:bodyPr/>
          <a:lstStyle/>
          <a:p>
            <a:r>
              <a:rPr lang="en-US" dirty="0"/>
              <a:t>The program uses Least Significant Bit steganography, which is both simple and efficient. Converting the message into binary and embedding each bit one by one makes the hiding process linear in the number of bits in the message. Extraction works similarly, reading bits one by one until the end marker is reached. Both hiding and extraction have a time complexity of O(n), which is very efficient for standard image sizes. Defensive programming techniques such as file checks and try/except blocks ensure stability even in unusual scenarios.</a:t>
            </a:r>
          </a:p>
        </p:txBody>
      </p:sp>
    </p:spTree>
    <p:extLst>
      <p:ext uri="{BB962C8B-B14F-4D97-AF65-F5344CB8AC3E}">
        <p14:creationId xmlns:p14="http://schemas.microsoft.com/office/powerpoint/2010/main" val="2604356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96A15-E53B-AD7F-2208-5BB9F2010F1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61EC4F9-8A00-44A7-96C2-7A27D3C634A5}"/>
              </a:ext>
            </a:extLst>
          </p:cNvPr>
          <p:cNvSpPr>
            <a:spLocks noGrp="1"/>
          </p:cNvSpPr>
          <p:nvPr>
            <p:ph idx="1"/>
          </p:nvPr>
        </p:nvSpPr>
        <p:spPr/>
        <p:txBody>
          <a:bodyPr/>
          <a:lstStyle/>
          <a:p>
            <a:pPr marL="0" indent="0">
              <a:buNone/>
            </a:pPr>
            <a:r>
              <a:rPr lang="en-US" dirty="0"/>
              <a:t>In conclusion, this steganography program successfully hides and extracts messages within BMP images while handling all foreseeable errors and edge cases. It uses only basic Python programming, is robust and user-friendly, and has been thoroughly tested. The application is suitable for educational purposes, digital watermarking, or private communication, demonstrating both practical software engineering skills and the principles of steganography.</a:t>
            </a:r>
          </a:p>
        </p:txBody>
      </p:sp>
    </p:spTree>
    <p:extLst>
      <p:ext uri="{BB962C8B-B14F-4D97-AF65-F5344CB8AC3E}">
        <p14:creationId xmlns:p14="http://schemas.microsoft.com/office/powerpoint/2010/main" val="381000830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28</TotalTime>
  <Words>668</Words>
  <Application>Microsoft Office PowerPoint</Application>
  <PresentationFormat>Widescreen</PresentationFormat>
  <Paragraphs>20</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Gill Sans MT</vt:lpstr>
      <vt:lpstr>Gallery</vt:lpstr>
      <vt:lpstr>Intro to programming coursework</vt:lpstr>
      <vt:lpstr>What is steganography</vt:lpstr>
      <vt:lpstr>Application overview</vt:lpstr>
      <vt:lpstr>How it works</vt:lpstr>
      <vt:lpstr>Testing and edge cases</vt:lpstr>
      <vt:lpstr>Algorithm and Time Complexity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M Ahmed</dc:creator>
  <cp:lastModifiedBy>ahmed mostafa</cp:lastModifiedBy>
  <cp:revision>1</cp:revision>
  <dcterms:created xsi:type="dcterms:W3CDTF">2025-12-14T20:46:40Z</dcterms:created>
  <dcterms:modified xsi:type="dcterms:W3CDTF">2025-12-14T21:15:09Z</dcterms:modified>
</cp:coreProperties>
</file>